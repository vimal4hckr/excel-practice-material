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6" r:id="rId26"/>
    <p:sldId id="287" r:id="rId27"/>
    <p:sldId id="289" r:id="rId28"/>
    <p:sldId id="288" r:id="rId29"/>
    <p:sldId id="290" r:id="rId30"/>
    <p:sldId id="291" r:id="rId31"/>
    <p:sldId id="293" r:id="rId32"/>
    <p:sldId id="294" r:id="rId33"/>
    <p:sldId id="292" r:id="rId34"/>
    <p:sldId id="280" r:id="rId35"/>
    <p:sldId id="281" r:id="rId36"/>
    <p:sldId id="282" r:id="rId37"/>
    <p:sldId id="283" r:id="rId38"/>
    <p:sldId id="284" r:id="rId39"/>
    <p:sldId id="28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5E97-9BF7-477E-A0EC-47D8202A25A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20EBA-3FD4-4881-9208-B7094601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6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5E97-9BF7-477E-A0EC-47D8202A25A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20EBA-3FD4-4881-9208-B7094601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67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5E97-9BF7-477E-A0EC-47D8202A25A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20EBA-3FD4-4881-9208-B7094601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01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5E97-9BF7-477E-A0EC-47D8202A25A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20EBA-3FD4-4881-9208-B7094601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8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5E97-9BF7-477E-A0EC-47D8202A25A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20EBA-3FD4-4881-9208-B7094601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07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5E97-9BF7-477E-A0EC-47D8202A25A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20EBA-3FD4-4881-9208-B7094601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51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5E97-9BF7-477E-A0EC-47D8202A25A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20EBA-3FD4-4881-9208-B7094601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59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5E97-9BF7-477E-A0EC-47D8202A25A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20EBA-3FD4-4881-9208-B7094601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08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5E97-9BF7-477E-A0EC-47D8202A25A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20EBA-3FD4-4881-9208-B7094601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07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5E97-9BF7-477E-A0EC-47D8202A25A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20EBA-3FD4-4881-9208-B7094601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28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5E97-9BF7-477E-A0EC-47D8202A25A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20EBA-3FD4-4881-9208-B7094601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2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45E97-9BF7-477E-A0EC-47D8202A25A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20EBA-3FD4-4881-9208-B7094601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86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5915" y="894529"/>
            <a:ext cx="92348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Pivot Table?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Pivot Table is an Excel feature that summarizes large amounts of data into meaningful reports without changing the original 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46839" y="2340904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to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totals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categories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 records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averages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quickly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50023" y="4618275"/>
            <a:ext cx="78017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reading 10,000 sales records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manually,Pivot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Table can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showTotal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Sales by Department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926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0454" y="764903"/>
            <a:ext cx="1645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Sample Dataset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592585"/>
              </p:ext>
            </p:extLst>
          </p:nvPr>
        </p:nvGraphicFramePr>
        <p:xfrm>
          <a:off x="1290454" y="1386011"/>
          <a:ext cx="9623150" cy="4351334"/>
        </p:xfrm>
        <a:graphic>
          <a:graphicData uri="http://schemas.openxmlformats.org/drawingml/2006/table">
            <a:tbl>
              <a:tblPr/>
              <a:tblGrid>
                <a:gridCol w="1924630">
                  <a:extLst>
                    <a:ext uri="{9D8B030D-6E8A-4147-A177-3AD203B41FA5}">
                      <a16:colId xmlns:a16="http://schemas.microsoft.com/office/drawing/2014/main" val="2815650257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4173343350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2740263060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3093899318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3377675709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Employee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Department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City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Month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Sales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670602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Amit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Sales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Chennai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Jan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45000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73374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Priya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Bangalore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Jan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22000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55923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Rahul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Sales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Hyderabad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Jan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51000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1082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Sneha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IT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Chennai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Jan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62000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863089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John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Finance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Delhi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Jan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38000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28103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David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Sales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Mumbai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Feb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47000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80872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Anita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Delhi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Feb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26000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66670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Arun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IT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Chennai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Feb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64000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10325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Kiran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Finance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Hyderabad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Feb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41000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11603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Riya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Sales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Mumbai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Feb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55000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11199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Karthik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Sales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Chennai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52000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35749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Meena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Finance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Delhi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43000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5387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419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258" y="1520024"/>
            <a:ext cx="8809483" cy="38179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90346" y="527539"/>
            <a:ext cx="8396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 Create pivot table select entire data sets and select pivot from insert </a:t>
            </a:r>
            <a:br>
              <a:rPr lang="en-US" dirty="0" smtClean="0"/>
            </a:br>
            <a:r>
              <a:rPr lang="en-US" dirty="0" smtClean="0"/>
              <a:t>create a new sheet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198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49" y="2022149"/>
            <a:ext cx="10544427" cy="33112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4234" y="1098819"/>
            <a:ext cx="8396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this we’ll see empty pivot table and , pivot table editor </a:t>
            </a:r>
            <a:br>
              <a:rPr lang="en-US" dirty="0" smtClean="0"/>
            </a:br>
            <a:r>
              <a:rPr lang="en-US" dirty="0" smtClean="0"/>
              <a:t>using that pivot table editor well edit add rows , columns , values , filters 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10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4348"/>
          <a:stretch/>
        </p:blipFill>
        <p:spPr>
          <a:xfrm>
            <a:off x="1098959" y="1746263"/>
            <a:ext cx="10412541" cy="3968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8959" y="1207008"/>
            <a:ext cx="694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can add each columns or rows by pivot table editor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37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626" y="1503166"/>
            <a:ext cx="10107022" cy="42820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" y="731520"/>
            <a:ext cx="4672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can also edit and filter the order 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6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30" y="1102842"/>
            <a:ext cx="10995598" cy="464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80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73" y="1351523"/>
            <a:ext cx="11221467" cy="475666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4773" y="758952"/>
            <a:ext cx="6922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can filter every rows by both </a:t>
            </a:r>
            <a:r>
              <a:rPr lang="en-US" dirty="0" err="1" smtClean="0"/>
              <a:t>accending</a:t>
            </a:r>
            <a:r>
              <a:rPr lang="en-US" dirty="0" smtClean="0"/>
              <a:t> and </a:t>
            </a:r>
            <a:r>
              <a:rPr lang="en-US" dirty="0" err="1" smtClean="0"/>
              <a:t>decending</a:t>
            </a:r>
            <a:r>
              <a:rPr lang="en-US" dirty="0" smtClean="0"/>
              <a:t> order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097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0912" y="1118908"/>
            <a:ext cx="89946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Pivot Chart?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Pivot Chart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dynamic chart that is directly linked to a Pivot Table. It automatically updates whenever the Pivot Table changes.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00912" y="2524405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 of Pivot Table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Updates automatically with Pivot Table changes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Easy to analyze trends and comparisons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filtering and interactive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dashboards and reports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00912" y="4575340"/>
            <a:ext cx="79796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Pivot Table showing Sales by Department can be displayed as a Column Chart, making it easier to compare department performance.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005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7462" y="925260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Create a Pivot Chart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any cell inside the Pivot Table.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 to the PivotTable Analyze tab.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PivotChart.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chart type.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OK.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90800" y="360909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PivotTable Analyze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   PivotChart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Choose Chart Type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       OK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56104" y="3239760"/>
            <a:ext cx="1299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Navigation 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064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683368"/>
              </p:ext>
            </p:extLst>
          </p:nvPr>
        </p:nvGraphicFramePr>
        <p:xfrm>
          <a:off x="2139461" y="876250"/>
          <a:ext cx="7347438" cy="1828800"/>
        </p:xfrm>
        <a:graphic>
          <a:graphicData uri="http://schemas.openxmlformats.org/drawingml/2006/table">
            <a:tbl>
              <a:tblPr/>
              <a:tblGrid>
                <a:gridCol w="2387713">
                  <a:extLst>
                    <a:ext uri="{9D8B030D-6E8A-4147-A177-3AD203B41FA5}">
                      <a16:colId xmlns:a16="http://schemas.microsoft.com/office/drawing/2014/main" val="4121430079"/>
                    </a:ext>
                  </a:extLst>
                </a:gridCol>
                <a:gridCol w="4959725">
                  <a:extLst>
                    <a:ext uri="{9D8B030D-6E8A-4147-A177-3AD203B41FA5}">
                      <a16:colId xmlns:a16="http://schemas.microsoft.com/office/drawing/2014/main" val="3070020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Total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230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250000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353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180000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6258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90000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8629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120000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643550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905160" y="506918"/>
            <a:ext cx="1862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Example Dataset 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116" y="2746086"/>
            <a:ext cx="5928127" cy="352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82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81908" y="1571455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Relationship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Pivot Chart is connected to its Pivot Table.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you: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 Pivot Table fields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filters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Refresh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data 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Pivot Chart updates automatically.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532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36783" y="592029"/>
            <a:ext cx="91469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filtering only Sales and IT, the chart displays only those departments.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758" y="1020871"/>
            <a:ext cx="8588484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78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6591" y="1665909"/>
            <a:ext cx="857543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Slicer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Slicer is an interactive filtering tool used with Pivot Tables and Pivot Charts.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using drop-down filters, users simply click buttons to filter data.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b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dashboards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selections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 indication of active filters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813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4853" y="821931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Slicer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Pivot Table.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 PivotTable Analyze.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Insert Slicer.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field.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OK.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13893" y="388165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PivotTable Analyze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 Insert Slicer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Select Department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       OK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831597" y="3411387"/>
            <a:ext cx="1299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Navigation 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970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3" y="1308842"/>
            <a:ext cx="10817352" cy="4747965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13233" y="146304"/>
            <a:ext cx="1269492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anywhere inside the Pivot Table.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the Pivot Table range to – Create Chart </a:t>
            </a:r>
          </a:p>
        </p:txBody>
      </p:sp>
    </p:spTree>
    <p:extLst>
      <p:ext uri="{BB962C8B-B14F-4D97-AF65-F5344CB8AC3E}">
        <p14:creationId xmlns:p14="http://schemas.microsoft.com/office/powerpoint/2010/main" val="701378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98" y="1508499"/>
            <a:ext cx="11501333" cy="479171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72814" y="738878"/>
            <a:ext cx="2016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Data → Add a slicer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404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44515" y="243815"/>
            <a:ext cx="746759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Timeline is a special filter used only for Date fields in a Pivot Table.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filter data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Year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Quarter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Month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44515" y="2612276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create :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Pivot Table.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 to PivotTable Analyze.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Insert Timeline.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Date field.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OK.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50324" y="467296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PivotTable Analyze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en-US" dirty="0" smtClean="0"/>
              <a:t> Timeline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Select Order Date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       OK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44515" y="4672960"/>
            <a:ext cx="16383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436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322944"/>
              </p:ext>
            </p:extLst>
          </p:nvPr>
        </p:nvGraphicFramePr>
        <p:xfrm>
          <a:off x="2508739" y="2288553"/>
          <a:ext cx="8068406" cy="2468880"/>
        </p:xfrm>
        <a:graphic>
          <a:graphicData uri="http://schemas.openxmlformats.org/drawingml/2006/table">
            <a:tbl>
              <a:tblPr/>
              <a:tblGrid>
                <a:gridCol w="1906914">
                  <a:extLst>
                    <a:ext uri="{9D8B030D-6E8A-4147-A177-3AD203B41FA5}">
                      <a16:colId xmlns:a16="http://schemas.microsoft.com/office/drawing/2014/main" val="1231318252"/>
                    </a:ext>
                  </a:extLst>
                </a:gridCol>
                <a:gridCol w="2307186">
                  <a:extLst>
                    <a:ext uri="{9D8B030D-6E8A-4147-A177-3AD203B41FA5}">
                      <a16:colId xmlns:a16="http://schemas.microsoft.com/office/drawing/2014/main" val="3635994329"/>
                    </a:ext>
                  </a:extLst>
                </a:gridCol>
                <a:gridCol w="3854306">
                  <a:extLst>
                    <a:ext uri="{9D8B030D-6E8A-4147-A177-3AD203B41FA5}">
                      <a16:colId xmlns:a16="http://schemas.microsoft.com/office/drawing/2014/main" val="40505112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Slicer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Timeline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440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Filter any 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Filter date 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036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Works With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Text, Number,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 fields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208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User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Buttons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Time slider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592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Multiple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6761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Interactive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37383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865584" y="1151765"/>
            <a:ext cx="22675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Slicer vs Timeline 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56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95146" y="1600007"/>
            <a:ext cx="757310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 To Remember</a:t>
            </a:r>
            <a:b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Pivot Chart is directly linked to a Pivot Table. 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the Pivot Table automatically update the Pivot Chart. 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Slicers provide button-based interactive filtering. 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Timelines filter Pivot Tables and Pivot Charts using date fields. 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Together, Pivot Charts, Slicers, and Timelines create powerful interactive dashboards used in business reporting and data analysis.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978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Formatting</a:t>
            </a:r>
            <a:b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Important Data Automatically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Formatting is an Excel feature that automatically changes the appearance of cells based on specified conditions.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900054"/>
            <a:ext cx="5157787" cy="525706"/>
          </a:xfrm>
        </p:spPr>
        <p:txBody>
          <a:bodyPr>
            <a:normAutofit fontScale="25000" lnSpcReduction="20000"/>
          </a:bodyPr>
          <a:lstStyle/>
          <a:p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9600" dirty="0" smtClean="0"/>
              <a:t/>
            </a:r>
            <a:br>
              <a:rPr lang="en-US" sz="9600" dirty="0" smtClean="0"/>
            </a:br>
            <a:r>
              <a:rPr lang="en-US" sz="9600" dirty="0" smtClean="0"/>
              <a:t>It helps users quickly identify: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95463"/>
            <a:ext cx="5183188" cy="437783"/>
          </a:xfrm>
        </p:spPr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839788" y="2777710"/>
            <a:ext cx="270138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values 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values 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records 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Trends 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indicators 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sz="quarter" idx="4"/>
          </p:nvPr>
        </p:nvSpPr>
        <p:spPr bwMode="auto">
          <a:xfrm>
            <a:off x="6172200" y="2639211"/>
            <a:ext cx="267573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Reports 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Performance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Banking 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Management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Marks 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Dashboards </a:t>
            </a:r>
          </a:p>
        </p:txBody>
      </p:sp>
    </p:spTree>
    <p:extLst>
      <p:ext uri="{BB962C8B-B14F-4D97-AF65-F5344CB8AC3E}">
        <p14:creationId xmlns:p14="http://schemas.microsoft.com/office/powerpoint/2010/main" val="3113034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054469" y="1061500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Benefits of Conditional Formatting:</a:t>
            </a:r>
            <a:br>
              <a:rPr lang="en-US" b="1" dirty="0" smtClean="0"/>
            </a:b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Highlights important information automatically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Makes reports visually attractive </a:t>
            </a:r>
            <a:br>
              <a:rPr lang="en-US" dirty="0" smtClean="0"/>
            </a:b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Detects high and low values quickly </a:t>
            </a:r>
            <a:br>
              <a:rPr lang="en-US" dirty="0" smtClean="0"/>
            </a:b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Finds duplicate values </a:t>
            </a:r>
            <a:br>
              <a:rPr lang="en-US" dirty="0" smtClean="0"/>
            </a:b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Identifies trends and patterns </a:t>
            </a:r>
            <a:br>
              <a:rPr lang="en-US" dirty="0" smtClean="0"/>
            </a:b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Saves time during data analysis </a:t>
            </a:r>
            <a:br>
              <a:rPr lang="en-US" dirty="0" smtClean="0"/>
            </a:b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No manual </a:t>
            </a:r>
            <a:r>
              <a:rPr lang="en-US" dirty="0" err="1" smtClean="0"/>
              <a:t>colouring</a:t>
            </a:r>
            <a:r>
              <a:rPr lang="en-US" dirty="0" smtClean="0"/>
              <a:t>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247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917822"/>
              </p:ext>
            </p:extLst>
          </p:nvPr>
        </p:nvGraphicFramePr>
        <p:xfrm>
          <a:off x="1603131" y="1664299"/>
          <a:ext cx="7910145" cy="4023360"/>
        </p:xfrm>
        <a:graphic>
          <a:graphicData uri="http://schemas.openxmlformats.org/drawingml/2006/table">
            <a:tbl>
              <a:tblPr/>
              <a:tblGrid>
                <a:gridCol w="2636715">
                  <a:extLst>
                    <a:ext uri="{9D8B030D-6E8A-4147-A177-3AD203B41FA5}">
                      <a16:colId xmlns:a16="http://schemas.microsoft.com/office/drawing/2014/main" val="1394697938"/>
                    </a:ext>
                  </a:extLst>
                </a:gridCol>
                <a:gridCol w="2636715">
                  <a:extLst>
                    <a:ext uri="{9D8B030D-6E8A-4147-A177-3AD203B41FA5}">
                      <a16:colId xmlns:a16="http://schemas.microsoft.com/office/drawing/2014/main" val="3153622405"/>
                    </a:ext>
                  </a:extLst>
                </a:gridCol>
                <a:gridCol w="2636715">
                  <a:extLst>
                    <a:ext uri="{9D8B030D-6E8A-4147-A177-3AD203B41FA5}">
                      <a16:colId xmlns:a16="http://schemas.microsoft.com/office/drawing/2014/main" val="2961340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Employee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163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45000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43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22000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499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51000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477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Sneha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62000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086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38000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97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David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47000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660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Anita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26000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584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64000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412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Kiran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41000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586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168719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123400" y="861618"/>
            <a:ext cx="1794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Sample Dataset 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37555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81908" y="10417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Creating Conditional Formatting :</a:t>
            </a:r>
            <a:br>
              <a:rPr lang="en-US" b="1" dirty="0" smtClean="0"/>
            </a:br>
            <a:endParaRPr lang="en-US" b="1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Select the cells. 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Click Home. 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Select Conditional Formatting. 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Choose a rule. 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Click OK.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355731" y="377614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Home</a:t>
            </a:r>
          </a:p>
          <a:p>
            <a:r>
              <a:rPr lang="en-US" dirty="0" smtClean="0"/>
              <a:t>   ↓</a:t>
            </a:r>
          </a:p>
          <a:p>
            <a:r>
              <a:rPr lang="en-US" dirty="0" smtClean="0"/>
              <a:t>Conditional Formatting</a:t>
            </a:r>
          </a:p>
          <a:p>
            <a:r>
              <a:rPr lang="en-US" dirty="0" smtClean="0"/>
              <a:t>   ↓</a:t>
            </a:r>
          </a:p>
          <a:p>
            <a:r>
              <a:rPr lang="en-US" dirty="0" smtClean="0"/>
              <a:t>Choose Rule</a:t>
            </a:r>
          </a:p>
          <a:p>
            <a:r>
              <a:rPr lang="en-US" dirty="0" smtClean="0"/>
              <a:t>   ↓</a:t>
            </a:r>
          </a:p>
          <a:p>
            <a:r>
              <a:rPr lang="en-US" dirty="0" smtClean="0"/>
              <a:t>OK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026264" y="3384806"/>
            <a:ext cx="13294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Navigation 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09350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3371" y="785614"/>
            <a:ext cx="88767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 : Sales Pivot Table – Revenue by Region &amp; Product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08300" y="1663581"/>
            <a:ext cx="86468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Create a Pivot Table from a </a:t>
            </a:r>
            <a:r>
              <a:rPr lang="en-US" b="1" dirty="0" smtClean="0"/>
              <a:t>1000-row sales dataset</a:t>
            </a:r>
            <a:r>
              <a:rPr lang="en-US" dirty="0" smtClean="0"/>
              <a:t> to analyze </a:t>
            </a:r>
            <a:r>
              <a:rPr lang="en-US" b="1" dirty="0" smtClean="0"/>
              <a:t>Revenue by Region and Product</a:t>
            </a:r>
            <a:r>
              <a:rPr lang="en-US" dirty="0" smtClean="0"/>
              <a:t>, then add </a:t>
            </a:r>
            <a:r>
              <a:rPr lang="en-US" b="1" dirty="0" smtClean="0"/>
              <a:t>Year</a:t>
            </a:r>
            <a:r>
              <a:rPr lang="en-US" dirty="0" smtClean="0"/>
              <a:t> and </a:t>
            </a:r>
            <a:r>
              <a:rPr lang="en-US" b="1" dirty="0" smtClean="0"/>
              <a:t>Region</a:t>
            </a:r>
            <a:r>
              <a:rPr lang="en-US" dirty="0" smtClean="0"/>
              <a:t> slicers and create a </a:t>
            </a:r>
            <a:r>
              <a:rPr lang="en-US" b="1" dirty="0" smtClean="0"/>
              <a:t>Pivot Bar Chart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93440" y="277641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Sales Pivot Table</a:t>
            </a:r>
          </a:p>
          <a:p>
            <a:r>
              <a:rPr lang="en-US" b="1" dirty="0" smtClean="0"/>
              <a:t>Revenue by Region &amp; Product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>Create a Pivot Table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Summarize Revenue by Region and Product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Add Year and Region slicers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Create a Pivot Bar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Build an interactive sales dashboard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898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278752"/>
              </p:ext>
            </p:extLst>
          </p:nvPr>
        </p:nvGraphicFramePr>
        <p:xfrm>
          <a:off x="797560" y="1628934"/>
          <a:ext cx="10515600" cy="3566160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362518239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7684977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2632340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0184344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0887364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8041884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14322850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660505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Order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Unit 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Revenue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093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05-Jan-2024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Laptop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944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08-Jan-2024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815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15-Feb-2024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Keyboard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7200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469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20-Mar-2025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Monitor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36000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60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10-Apr-2025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Printer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8000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5982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97560" y="755134"/>
            <a:ext cx="26532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Sales Dataset 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413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11581"/>
            <a:ext cx="9509760" cy="5349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1558" y="393539"/>
            <a:ext cx="4039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creating pivot table 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090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0" y="1089660"/>
            <a:ext cx="8808720" cy="4954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1558" y="393539"/>
            <a:ext cx="4039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add every row 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705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51" y="498232"/>
            <a:ext cx="9706706" cy="546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22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199" y="530275"/>
            <a:ext cx="93127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Selecting </a:t>
            </a:r>
            <a:r>
              <a:rPr lang="en-US" sz="2000" b="1" dirty="0" smtClean="0"/>
              <a:t>column</a:t>
            </a:r>
            <a:r>
              <a:rPr lang="en-US" sz="2000" dirty="0" smtClean="0"/>
              <a:t> filters the Pivot Table and Pivot Chart to display only filtered  sales.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99607"/>
            <a:ext cx="10119360" cy="569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931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" y="728662"/>
            <a:ext cx="10896600" cy="6129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3377" y="243068"/>
            <a:ext cx="3113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chart appears 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142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81" y="906780"/>
            <a:ext cx="10337800" cy="58150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508000"/>
            <a:ext cx="322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After creating chart 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548592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41828" y="1589155"/>
            <a:ext cx="4371902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any cell in the Pivot Table.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 to PivotTable Analyze.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PivotChart.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Choose Clustered Bar Chart.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OK.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70092" y="942030"/>
            <a:ext cx="32576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Pivot Bar Chart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52172" y="408293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PivotTable Analyze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PivotChart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Bar Chart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OK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70092" y="4082939"/>
            <a:ext cx="14654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6007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5608" y="867131"/>
            <a:ext cx="93458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 : Combine 12 Monthly CSV Files Load entire folder of CSVs with Get Data &gt; From Folder;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autorefresh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when new file added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84739" y="1872734"/>
            <a:ext cx="57405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Explanation:                    You will get a folder like this: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733800" y="2314279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/>
              <a:t>Monthly_CSV_Files</a:t>
            </a:r>
            <a:endParaRPr lang="en-US" dirty="0" smtClean="0"/>
          </a:p>
          <a:p>
            <a:r>
              <a:rPr lang="en-US" dirty="0" smtClean="0"/>
              <a:t>│</a:t>
            </a:r>
          </a:p>
          <a:p>
            <a:r>
              <a:rPr lang="en-US" dirty="0" smtClean="0"/>
              <a:t>├── Sales_Jan.csv</a:t>
            </a:r>
          </a:p>
          <a:p>
            <a:r>
              <a:rPr lang="en-US" dirty="0" smtClean="0"/>
              <a:t>├── Sales_Feb.csv</a:t>
            </a:r>
          </a:p>
          <a:p>
            <a:r>
              <a:rPr lang="en-US" dirty="0" smtClean="0"/>
              <a:t>├── Sales_Mar.csv</a:t>
            </a:r>
          </a:p>
          <a:p>
            <a:r>
              <a:rPr lang="en-US" dirty="0" smtClean="0"/>
              <a:t>├── Sales_Apr.csv</a:t>
            </a:r>
          </a:p>
          <a:p>
            <a:r>
              <a:rPr lang="en-US" dirty="0" smtClean="0"/>
              <a:t>├── Sales_May.csv</a:t>
            </a:r>
          </a:p>
          <a:p>
            <a:r>
              <a:rPr lang="en-US" dirty="0" smtClean="0"/>
              <a:t>├── Sales_Jun.csv</a:t>
            </a:r>
          </a:p>
          <a:p>
            <a:r>
              <a:rPr lang="en-US" dirty="0" smtClean="0"/>
              <a:t>├── Sales_Jul.csv</a:t>
            </a:r>
          </a:p>
          <a:p>
            <a:r>
              <a:rPr lang="en-US" dirty="0" smtClean="0"/>
              <a:t>├── Sales_Aug.csv</a:t>
            </a:r>
          </a:p>
          <a:p>
            <a:r>
              <a:rPr lang="en-US" dirty="0" smtClean="0"/>
              <a:t>├── Sales_Sep.csv</a:t>
            </a:r>
          </a:p>
          <a:p>
            <a:r>
              <a:rPr lang="en-US" dirty="0" smtClean="0"/>
              <a:t>├── Sales_Oct.csv</a:t>
            </a:r>
          </a:p>
          <a:p>
            <a:r>
              <a:rPr lang="en-US" dirty="0" smtClean="0"/>
              <a:t>├── Sales_Nov.csv</a:t>
            </a:r>
          </a:p>
          <a:p>
            <a:r>
              <a:rPr lang="en-US" dirty="0" smtClean="0"/>
              <a:t>└── Sales_Dec.csv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628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0" y="10044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Next : Open Microsoft Excel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Open a blank workbook.</a:t>
            </a:r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05000" y="2378804"/>
            <a:ext cx="6096000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 to Data Tab</a:t>
            </a:r>
            <a:b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should see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Data (or) – new Query</a:t>
            </a:r>
            <a:endParaRPr kumimoji="0" lang="en-US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5000" y="4522576"/>
            <a:ext cx="5126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Open our 12 months folder inside that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46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569" y="1242647"/>
            <a:ext cx="8979877" cy="50511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34872" y="744974"/>
            <a:ext cx="35896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Now Power Query opens separately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9498989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36320" y="48321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Home</a:t>
            </a:r>
          </a:p>
          <a:p>
            <a:r>
              <a:rPr lang="en-US" dirty="0" smtClean="0"/>
              <a:t>    ↓</a:t>
            </a:r>
          </a:p>
          <a:p>
            <a:r>
              <a:rPr lang="en-US" dirty="0" smtClean="0"/>
              <a:t>Close &amp; Load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98135" y="760214"/>
            <a:ext cx="5940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Excel creates one worksheet containing data from all months.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36320" y="179519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Result</a:t>
            </a:r>
          </a:p>
          <a:p>
            <a:r>
              <a:rPr lang="en-US" dirty="0" smtClean="0"/>
              <a:t>Instead of 12 files...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07964"/>
              </p:ext>
            </p:extLst>
          </p:nvPr>
        </p:nvGraphicFramePr>
        <p:xfrm>
          <a:off x="1036320" y="2538254"/>
          <a:ext cx="9921240" cy="2323308"/>
        </p:xfrm>
        <a:graphic>
          <a:graphicData uri="http://schemas.openxmlformats.org/drawingml/2006/table">
            <a:tbl>
              <a:tblPr/>
              <a:tblGrid>
                <a:gridCol w="2480310">
                  <a:extLst>
                    <a:ext uri="{9D8B030D-6E8A-4147-A177-3AD203B41FA5}">
                      <a16:colId xmlns:a16="http://schemas.microsoft.com/office/drawing/2014/main" val="3020882148"/>
                    </a:ext>
                  </a:extLst>
                </a:gridCol>
                <a:gridCol w="2480310">
                  <a:extLst>
                    <a:ext uri="{9D8B030D-6E8A-4147-A177-3AD203B41FA5}">
                      <a16:colId xmlns:a16="http://schemas.microsoft.com/office/drawing/2014/main" val="1087873503"/>
                    </a:ext>
                  </a:extLst>
                </a:gridCol>
                <a:gridCol w="2480310">
                  <a:extLst>
                    <a:ext uri="{9D8B030D-6E8A-4147-A177-3AD203B41FA5}">
                      <a16:colId xmlns:a16="http://schemas.microsoft.com/office/drawing/2014/main" val="795133648"/>
                    </a:ext>
                  </a:extLst>
                </a:gridCol>
                <a:gridCol w="2480310">
                  <a:extLst>
                    <a:ext uri="{9D8B030D-6E8A-4147-A177-3AD203B41FA5}">
                      <a16:colId xmlns:a16="http://schemas.microsoft.com/office/drawing/2014/main" val="3928194549"/>
                    </a:ext>
                  </a:extLst>
                </a:gridCol>
              </a:tblGrid>
              <a:tr h="387218">
                <a:tc>
                  <a:txBody>
                    <a:bodyPr/>
                    <a:lstStyle/>
                    <a:p>
                      <a:r>
                        <a:rPr lang="en-US"/>
                        <a:t>Product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Product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591352"/>
                  </a:ext>
                </a:extLst>
              </a:tr>
              <a:tr h="387218">
                <a:tc>
                  <a:txBody>
                    <a:bodyPr/>
                    <a:lstStyle/>
                    <a:p>
                      <a:r>
                        <a:rPr lang="en-US"/>
                        <a:t>1001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Laptop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785803"/>
                  </a:ext>
                </a:extLst>
              </a:tr>
              <a:tr h="387218">
                <a:tc>
                  <a:txBody>
                    <a:bodyPr/>
                    <a:lstStyle/>
                    <a:p>
                      <a:r>
                        <a:rPr lang="en-US"/>
                        <a:t>1002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7234250"/>
                  </a:ext>
                </a:extLst>
              </a:tr>
              <a:tr h="387218">
                <a:tc>
                  <a:txBody>
                    <a:bodyPr/>
                    <a:lstStyle/>
                    <a:p>
                      <a:r>
                        <a:rPr lang="en-US"/>
                        <a:t>1001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Laptop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Feb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309707"/>
                  </a:ext>
                </a:extLst>
              </a:tr>
              <a:tr h="387218">
                <a:tc>
                  <a:txBody>
                    <a:bodyPr/>
                    <a:lstStyle/>
                    <a:p>
                      <a:r>
                        <a:rPr lang="en-US"/>
                        <a:t>1002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Feb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658913"/>
                  </a:ext>
                </a:extLst>
              </a:tr>
              <a:tr h="387218"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77099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36320" y="5057894"/>
            <a:ext cx="3725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Everything is combined automatically.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03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1" y="327660"/>
            <a:ext cx="11186160" cy="629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122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0640" y="1183978"/>
            <a:ext cx="6096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 Activity</a:t>
            </a:r>
            <a:b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 the 12 CSV files. 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them using Get Data → From Folder. 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combined data into Excel. 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 a new file (Sales_Jan_2027.csv) to the folder.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Refresh All. 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Observe that the new records appear automatically.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602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1293</Words>
  <Application>Microsoft Office PowerPoint</Application>
  <PresentationFormat>Widescreen</PresentationFormat>
  <Paragraphs>404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 Formatting Highlight Important Data Automatically Conditional Formatting is an Excel feature that automatically changes the appearance of cells based on specified conditions.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Vimal</dc:creator>
  <cp:lastModifiedBy>Vimal</cp:lastModifiedBy>
  <cp:revision>13</cp:revision>
  <dcterms:created xsi:type="dcterms:W3CDTF">2026-07-14T21:59:02Z</dcterms:created>
  <dcterms:modified xsi:type="dcterms:W3CDTF">2026-07-14T23:59:03Z</dcterms:modified>
</cp:coreProperties>
</file>