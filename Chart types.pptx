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5" r:id="rId2"/>
    <p:sldId id="257" r:id="rId3"/>
    <p:sldId id="25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4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imal" initials="V" lastIdx="1" clrIdx="0">
    <p:extLst>
      <p:ext uri="{19B8F6BF-5375-455C-9EA6-DF929625EA0E}">
        <p15:presenceInfo xmlns:p15="http://schemas.microsoft.com/office/powerpoint/2012/main" userId="f5a5a270d22692c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50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7-16T09:27:15.480" idx="1">
    <p:pos x="10" y="10"/>
    <p:text/>
    <p:extLst>
      <p:ext uri="{C676402C-5697-4E1C-873F-D02D1690AC5C}">
        <p15:threadingInfo xmlns:p15="http://schemas.microsoft.com/office/powerpoint/2012/main" timeZoneBias="-33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7-16T09:27:15.480" idx="1">
    <p:pos x="10" y="10"/>
    <p:text/>
    <p:extLst>
      <p:ext uri="{C676402C-5697-4E1C-873F-D02D1690AC5C}">
        <p15:threadingInfo xmlns:p15="http://schemas.microsoft.com/office/powerpoint/2012/main" timeZoneBias="-33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72C05-3594-4EF2-B339-C1185081F5EA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2A4C2-1A31-4801-8964-A2AA6F7D6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354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72C05-3594-4EF2-B339-C1185081F5EA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2A4C2-1A31-4801-8964-A2AA6F7D6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06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72C05-3594-4EF2-B339-C1185081F5EA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2A4C2-1A31-4801-8964-A2AA6F7D6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398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72C05-3594-4EF2-B339-C1185081F5EA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2A4C2-1A31-4801-8964-A2AA6F7D6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09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72C05-3594-4EF2-B339-C1185081F5EA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2A4C2-1A31-4801-8964-A2AA6F7D6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111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72C05-3594-4EF2-B339-C1185081F5EA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2A4C2-1A31-4801-8964-A2AA6F7D6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451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72C05-3594-4EF2-B339-C1185081F5EA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2A4C2-1A31-4801-8964-A2AA6F7D6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448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72C05-3594-4EF2-B339-C1185081F5EA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2A4C2-1A31-4801-8964-A2AA6F7D6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363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72C05-3594-4EF2-B339-C1185081F5EA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2A4C2-1A31-4801-8964-A2AA6F7D6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550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72C05-3594-4EF2-B339-C1185081F5EA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2A4C2-1A31-4801-8964-A2AA6F7D6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186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72C05-3594-4EF2-B339-C1185081F5EA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2A4C2-1A31-4801-8964-A2AA6F7D6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185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872C05-3594-4EF2-B339-C1185081F5EA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A2A4C2-1A31-4801-8964-A2AA6F7D6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231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73833" y="2573002"/>
            <a:ext cx="3666388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Chart types</a:t>
            </a:r>
            <a:endParaRPr 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1105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86325" y="597850"/>
            <a:ext cx="146245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 :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465383" y="1356166"/>
            <a:ext cx="874248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A </a:t>
            </a:r>
            <a:r>
              <a:rPr lang="en-US" b="1" dirty="0" smtClean="0"/>
              <a:t>Bar Chart</a:t>
            </a:r>
            <a:r>
              <a:rPr lang="en-US" dirty="0" smtClean="0"/>
              <a:t> compares values between different categories. The length or height of each bar represents the value.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788625" y="2357141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/>
              <a:t>Best Used For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Sales by Product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Marks by Student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Revenue by Region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4527220"/>
              </p:ext>
            </p:extLst>
          </p:nvPr>
        </p:nvGraphicFramePr>
        <p:xfrm>
          <a:off x="3273669" y="4089216"/>
          <a:ext cx="6327532" cy="1828800"/>
        </p:xfrm>
        <a:graphic>
          <a:graphicData uri="http://schemas.openxmlformats.org/drawingml/2006/table">
            <a:tbl>
              <a:tblPr/>
              <a:tblGrid>
                <a:gridCol w="3163766">
                  <a:extLst>
                    <a:ext uri="{9D8B030D-6E8A-4147-A177-3AD203B41FA5}">
                      <a16:colId xmlns:a16="http://schemas.microsoft.com/office/drawing/2014/main" val="3285810229"/>
                    </a:ext>
                  </a:extLst>
                </a:gridCol>
                <a:gridCol w="3163766">
                  <a:extLst>
                    <a:ext uri="{9D8B030D-6E8A-4147-A177-3AD203B41FA5}">
                      <a16:colId xmlns:a16="http://schemas.microsoft.com/office/drawing/2014/main" val="9220186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Product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Sales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2496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Laptop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6942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Mobile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0713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Tablet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36372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Monitor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484662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465383" y="3734572"/>
            <a:ext cx="2800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 Data: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5775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4040" y="1333500"/>
            <a:ext cx="8595359" cy="483489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44040" y="527537"/>
            <a:ext cx="19518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Select table </a:t>
            </a:r>
            <a:br>
              <a:rPr lang="en-US" dirty="0" smtClean="0"/>
            </a:br>
            <a:r>
              <a:rPr lang="en-US" dirty="0" smtClean="0"/>
              <a:t>insert - Chart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0303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862" y="817684"/>
            <a:ext cx="9823938" cy="5525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906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86325" y="597850"/>
            <a:ext cx="148790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Line Chart: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465383" y="1264327"/>
            <a:ext cx="87424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A </a:t>
            </a:r>
            <a:r>
              <a:rPr lang="en-US" b="1" dirty="0" smtClean="0"/>
              <a:t>Line Chart</a:t>
            </a:r>
            <a:r>
              <a:rPr lang="en-US" dirty="0" smtClean="0"/>
              <a:t> shows changes or trends over time.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465383" y="3734572"/>
            <a:ext cx="2800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 Data: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874233" y="1900026"/>
            <a:ext cx="217255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Best Used For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Monthly Sales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Temperature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Website Visitors</a:t>
            </a:r>
            <a:endParaRPr lang="en-US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2651396"/>
              </p:ext>
            </p:extLst>
          </p:nvPr>
        </p:nvGraphicFramePr>
        <p:xfrm>
          <a:off x="3616179" y="4119395"/>
          <a:ext cx="5167336" cy="2194560"/>
        </p:xfrm>
        <a:graphic>
          <a:graphicData uri="http://schemas.openxmlformats.org/drawingml/2006/table">
            <a:tbl>
              <a:tblPr/>
              <a:tblGrid>
                <a:gridCol w="1619677">
                  <a:extLst>
                    <a:ext uri="{9D8B030D-6E8A-4147-A177-3AD203B41FA5}">
                      <a16:colId xmlns:a16="http://schemas.microsoft.com/office/drawing/2014/main" val="2800391456"/>
                    </a:ext>
                  </a:extLst>
                </a:gridCol>
                <a:gridCol w="3547659">
                  <a:extLst>
                    <a:ext uri="{9D8B030D-6E8A-4147-A177-3AD203B41FA5}">
                      <a16:colId xmlns:a16="http://schemas.microsoft.com/office/drawing/2014/main" val="29952974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Month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Sales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361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Jan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4342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Feb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3306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Mar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14201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Apr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8506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May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8994188"/>
                  </a:ext>
                </a:extLst>
              </a:tr>
            </a:tbl>
          </a:graphicData>
        </a:graphic>
      </p:graphicFrame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6726116" y="2017000"/>
            <a:ext cx="3008727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Formula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Monthly Growth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=(B3-B2)/B2</a:t>
            </a:r>
          </a:p>
        </p:txBody>
      </p:sp>
    </p:spTree>
    <p:extLst>
      <p:ext uri="{BB962C8B-B14F-4D97-AF65-F5344CB8AC3E}">
        <p14:creationId xmlns:p14="http://schemas.microsoft.com/office/powerpoint/2010/main" val="1838680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591" y="1158092"/>
            <a:ext cx="7714326" cy="4062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500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77230" t="24015" b="7168"/>
          <a:stretch/>
        </p:blipFill>
        <p:spPr>
          <a:xfrm>
            <a:off x="4394193" y="350713"/>
            <a:ext cx="3657600" cy="621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546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3935" b="5333"/>
          <a:stretch/>
        </p:blipFill>
        <p:spPr>
          <a:xfrm>
            <a:off x="1062941" y="856526"/>
            <a:ext cx="9956158" cy="508128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62941" y="386974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Select Data         Insert             Line Chart</a:t>
            </a:r>
            <a:endParaRPr lang="en-US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2257063" y="555585"/>
            <a:ext cx="405114" cy="115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3240911" y="555585"/>
            <a:ext cx="625033" cy="115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1032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37139" y="894673"/>
            <a:ext cx="17027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Combo Chart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143665" y="1589154"/>
            <a:ext cx="41544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A </a:t>
            </a:r>
            <a:r>
              <a:rPr lang="en-US" b="1" dirty="0" smtClean="0"/>
              <a:t>Combo Chart</a:t>
            </a:r>
            <a:r>
              <a:rPr lang="en-US" dirty="0" smtClean="0"/>
              <a:t> combines two chart types.</a:t>
            </a:r>
            <a:endParaRPr 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143665" y="211816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Column = Sales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Line = Profit 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3805234"/>
              </p:ext>
            </p:extLst>
          </p:nvPr>
        </p:nvGraphicFramePr>
        <p:xfrm>
          <a:off x="1266463" y="2924849"/>
          <a:ext cx="8479419" cy="1828800"/>
        </p:xfrm>
        <a:graphic>
          <a:graphicData uri="http://schemas.openxmlformats.org/drawingml/2006/table">
            <a:tbl>
              <a:tblPr/>
              <a:tblGrid>
                <a:gridCol w="2826473">
                  <a:extLst>
                    <a:ext uri="{9D8B030D-6E8A-4147-A177-3AD203B41FA5}">
                      <a16:colId xmlns:a16="http://schemas.microsoft.com/office/drawing/2014/main" val="3900742606"/>
                    </a:ext>
                  </a:extLst>
                </a:gridCol>
                <a:gridCol w="2826473">
                  <a:extLst>
                    <a:ext uri="{9D8B030D-6E8A-4147-A177-3AD203B41FA5}">
                      <a16:colId xmlns:a16="http://schemas.microsoft.com/office/drawing/2014/main" val="1809777136"/>
                    </a:ext>
                  </a:extLst>
                </a:gridCol>
                <a:gridCol w="2826473">
                  <a:extLst>
                    <a:ext uri="{9D8B030D-6E8A-4147-A177-3AD203B41FA5}">
                      <a16:colId xmlns:a16="http://schemas.microsoft.com/office/drawing/2014/main" val="2513047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Month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Sales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Profit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69886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Jan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07603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Feb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7277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5447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Apr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09313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2347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798" y="1844200"/>
            <a:ext cx="5896714" cy="3746373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856527" y="718046"/>
            <a:ext cx="1186543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Formula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Profit 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=C2/B2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77230" t="24015" b="7168"/>
          <a:stretch/>
        </p:blipFill>
        <p:spPr>
          <a:xfrm>
            <a:off x="8248562" y="1164011"/>
            <a:ext cx="3117777" cy="53002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48562" y="718046"/>
            <a:ext cx="37154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Select combo chart in this setup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9786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86836" y="836800"/>
            <a:ext cx="20267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Waterfall Chart: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038430" y="1346086"/>
            <a:ext cx="55224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Shows how increases and decreases affect the final total.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3054618"/>
              </p:ext>
            </p:extLst>
          </p:nvPr>
        </p:nvGraphicFramePr>
        <p:xfrm>
          <a:off x="2300222" y="2140085"/>
          <a:ext cx="6722640" cy="2194560"/>
        </p:xfrm>
        <a:graphic>
          <a:graphicData uri="http://schemas.openxmlformats.org/drawingml/2006/table">
            <a:tbl>
              <a:tblPr/>
              <a:tblGrid>
                <a:gridCol w="3361320">
                  <a:extLst>
                    <a:ext uri="{9D8B030D-6E8A-4147-A177-3AD203B41FA5}">
                      <a16:colId xmlns:a16="http://schemas.microsoft.com/office/drawing/2014/main" val="944711597"/>
                    </a:ext>
                  </a:extLst>
                </a:gridCol>
                <a:gridCol w="3361320">
                  <a:extLst>
                    <a:ext uri="{9D8B030D-6E8A-4147-A177-3AD203B41FA5}">
                      <a16:colId xmlns:a16="http://schemas.microsoft.com/office/drawing/2014/main" val="32365373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Category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Amount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2872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Opening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5774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Sales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408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Expenses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-300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11872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Tax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9865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Closing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7437474"/>
                  </a:ext>
                </a:extLst>
              </a:tr>
            </a:tbl>
          </a:graphicData>
        </a:graphic>
      </p:graphicFrame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286836" y="4937534"/>
            <a:ext cx="1649747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Running Total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=B2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Next row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=C2+B3</a:t>
            </a:r>
          </a:p>
        </p:txBody>
      </p:sp>
    </p:spTree>
    <p:extLst>
      <p:ext uri="{BB962C8B-B14F-4D97-AF65-F5344CB8AC3E}">
        <p14:creationId xmlns:p14="http://schemas.microsoft.com/office/powerpoint/2010/main" val="1015646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226" y="856527"/>
            <a:ext cx="9877063" cy="55558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16283" y="300942"/>
            <a:ext cx="4734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Select this water fall chart from others: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0827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506" y="833228"/>
            <a:ext cx="9106689" cy="565453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50065" y="312516"/>
            <a:ext cx="38890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Water fall chart :</a:t>
            </a:r>
          </a:p>
        </p:txBody>
      </p:sp>
    </p:spTree>
    <p:extLst>
      <p:ext uri="{BB962C8B-B14F-4D97-AF65-F5344CB8AC3E}">
        <p14:creationId xmlns:p14="http://schemas.microsoft.com/office/powerpoint/2010/main" val="37602025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30775" y="607146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/>
              <a:t>Funnel Chart</a:t>
            </a:r>
            <a:br>
              <a:rPr lang="en-US" b="1" dirty="0" smtClean="0"/>
            </a:br>
            <a:endParaRPr lang="en-US" b="1" dirty="0" smtClean="0"/>
          </a:p>
          <a:p>
            <a:r>
              <a:rPr lang="en-US" dirty="0" smtClean="0"/>
              <a:t>                       Shows values decreasing through different stages.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1790368"/>
              </p:ext>
            </p:extLst>
          </p:nvPr>
        </p:nvGraphicFramePr>
        <p:xfrm>
          <a:off x="2030391" y="1616910"/>
          <a:ext cx="7970134" cy="1860126"/>
        </p:xfrm>
        <a:graphic>
          <a:graphicData uri="http://schemas.openxmlformats.org/drawingml/2006/table">
            <a:tbl>
              <a:tblPr/>
              <a:tblGrid>
                <a:gridCol w="3985067">
                  <a:extLst>
                    <a:ext uri="{9D8B030D-6E8A-4147-A177-3AD203B41FA5}">
                      <a16:colId xmlns:a16="http://schemas.microsoft.com/office/drawing/2014/main" val="2701845390"/>
                    </a:ext>
                  </a:extLst>
                </a:gridCol>
                <a:gridCol w="3985067">
                  <a:extLst>
                    <a:ext uri="{9D8B030D-6E8A-4147-A177-3AD203B41FA5}">
                      <a16:colId xmlns:a16="http://schemas.microsoft.com/office/drawing/2014/main" val="2307275243"/>
                    </a:ext>
                  </a:extLst>
                </a:gridCol>
              </a:tblGrid>
              <a:tr h="39708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Count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732617"/>
                  </a:ext>
                </a:extLst>
              </a:tr>
              <a:tr h="21368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Visitors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0480601"/>
                  </a:ext>
                </a:extLst>
              </a:tr>
              <a:tr h="213683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Leads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3204396"/>
                  </a:ext>
                </a:extLst>
              </a:tr>
              <a:tr h="213683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Qualified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8466614"/>
                  </a:ext>
                </a:extLst>
              </a:tr>
              <a:tr h="213683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Customers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679141"/>
                  </a:ext>
                </a:extLst>
              </a:tr>
            </a:tbl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5432" y="3563470"/>
            <a:ext cx="4740051" cy="287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9199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46" b="6761"/>
          <a:stretch/>
        </p:blipFill>
        <p:spPr>
          <a:xfrm>
            <a:off x="790317" y="1192192"/>
            <a:ext cx="10058400" cy="4641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3497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45911" y="859950"/>
            <a:ext cx="183114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Scatter Chart :</a:t>
            </a:r>
            <a:endParaRPr lang="en-US" sz="2000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937936" y="1589154"/>
            <a:ext cx="53067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Shows the relationship between two numerical values.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311116" y="2287580"/>
            <a:ext cx="150073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Sample Data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9341822"/>
              </p:ext>
            </p:extLst>
          </p:nvPr>
        </p:nvGraphicFramePr>
        <p:xfrm>
          <a:off x="838200" y="2904014"/>
          <a:ext cx="10515600" cy="21945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26578196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00740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Study Hours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9471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02973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2876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40084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8240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04566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20279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0455" y="612458"/>
            <a:ext cx="4740051" cy="3063505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949124" y="846931"/>
            <a:ext cx="294664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Correlation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=CORREL(A2:A6,B2:B6)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1123" y="2396599"/>
            <a:ext cx="6715785" cy="2558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362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598" y="1376664"/>
            <a:ext cx="10270196" cy="391296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3929" y="694481"/>
            <a:ext cx="3391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Scatter chart :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66070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2902" y="1069485"/>
            <a:ext cx="783220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Histogram :</a:t>
            </a:r>
            <a:br>
              <a:rPr lang="en-US" b="1" dirty="0" smtClean="0"/>
            </a:br>
            <a:endParaRPr lang="en-US" b="1" dirty="0" smtClean="0"/>
          </a:p>
          <a:p>
            <a:r>
              <a:rPr lang="en-US" dirty="0" smtClean="0"/>
              <a:t>              Groups numerical data into ranges (bins) and shows how many values fall into each range.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3917751"/>
              </p:ext>
            </p:extLst>
          </p:nvPr>
        </p:nvGraphicFramePr>
        <p:xfrm>
          <a:off x="2604304" y="2404361"/>
          <a:ext cx="1427909" cy="4351334"/>
        </p:xfrm>
        <a:graphic>
          <a:graphicData uri="http://schemas.openxmlformats.org/drawingml/2006/table">
            <a:tbl>
              <a:tblPr/>
              <a:tblGrid>
                <a:gridCol w="1427909">
                  <a:extLst>
                    <a:ext uri="{9D8B030D-6E8A-4147-A177-3AD203B41FA5}">
                      <a16:colId xmlns:a16="http://schemas.microsoft.com/office/drawing/2014/main" val="2718695212"/>
                    </a:ext>
                  </a:extLst>
                </a:gridCol>
              </a:tblGrid>
              <a:tr h="334718"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Scores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4177509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45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8537287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52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9001053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56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8431380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60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8669508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62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9334758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68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8415538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70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1990791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74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3971180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80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226373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85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3975426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88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4296852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92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801371"/>
                  </a:ext>
                </a:extLst>
              </a:tr>
            </a:tbl>
          </a:graphicData>
        </a:graphic>
      </p:graphicFrame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5810491" y="2558249"/>
            <a:ext cx="399326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Formula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Frequency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=FREQUENCY(A2:A13,C2:C6)</a:t>
            </a:r>
          </a:p>
        </p:txBody>
      </p:sp>
      <p:sp>
        <p:nvSpPr>
          <p:cNvPr id="5" name="Rectangle 4"/>
          <p:cNvSpPr/>
          <p:nvPr/>
        </p:nvSpPr>
        <p:spPr>
          <a:xfrm>
            <a:off x="5810491" y="3862347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/>
              <a:t>Create Chart</a:t>
            </a:r>
          </a:p>
          <a:p>
            <a:r>
              <a:rPr lang="en-US" dirty="0" smtClean="0"/>
              <a:t>Select Data</a:t>
            </a:r>
          </a:p>
          <a:p>
            <a:r>
              <a:rPr lang="en-US" dirty="0" smtClean="0"/>
              <a:t>↓</a:t>
            </a:r>
          </a:p>
          <a:p>
            <a:r>
              <a:rPr lang="en-US" dirty="0" smtClean="0"/>
              <a:t>Insert</a:t>
            </a:r>
          </a:p>
          <a:p>
            <a:r>
              <a:rPr lang="en-US" dirty="0" smtClean="0"/>
              <a:t>↓</a:t>
            </a:r>
          </a:p>
          <a:p>
            <a:r>
              <a:rPr lang="en-US" dirty="0" smtClean="0"/>
              <a:t>Histogram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241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396" y="1233020"/>
            <a:ext cx="10907988" cy="450658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0780" y="532435"/>
            <a:ext cx="35187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Histogram Chart :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32345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299</Words>
  <Application>Microsoft Office PowerPoint</Application>
  <PresentationFormat>Widescreen</PresentationFormat>
  <Paragraphs>141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Tahoma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Vimal</dc:creator>
  <cp:lastModifiedBy>Vimal</cp:lastModifiedBy>
  <cp:revision>7</cp:revision>
  <dcterms:created xsi:type="dcterms:W3CDTF">2026-07-16T03:42:32Z</dcterms:created>
  <dcterms:modified xsi:type="dcterms:W3CDTF">2026-07-16T04:51:17Z</dcterms:modified>
</cp:coreProperties>
</file>